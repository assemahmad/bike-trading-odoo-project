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299" r:id="rId4"/>
    <p:sldId id="300" r:id="rId5"/>
    <p:sldId id="301" r:id="rId6"/>
    <p:sldId id="268" r:id="rId7"/>
    <p:sldId id="285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302" r:id="rId25"/>
    <p:sldId id="303" r:id="rId26"/>
    <p:sldId id="286" r:id="rId27"/>
    <p:sldId id="287" r:id="rId28"/>
    <p:sldId id="288" r:id="rId29"/>
    <p:sldId id="292" r:id="rId30"/>
    <p:sldId id="293" r:id="rId31"/>
    <p:sldId id="291" r:id="rId32"/>
    <p:sldId id="294" r:id="rId33"/>
    <p:sldId id="295" r:id="rId34"/>
    <p:sldId id="296" r:id="rId35"/>
    <p:sldId id="297" r:id="rId36"/>
    <p:sldId id="29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13DFC-DA93-4669-84B3-785F24AA15E1}" type="datetimeFigureOut">
              <a:rPr lang="en-US" smtClean="0"/>
              <a:t>29-Apr-25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3F4C0-5535-456B-A27A-42643ADA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04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23F4C0-5535-456B-A27A-42643ADA9C3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168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B016-B204-CB1E-056D-A59D8B13A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80680C-CEA0-05AD-AD3C-3B7D61643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781BB-D974-A1C8-DFF5-0FB64B93E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0DC13-316A-9F4C-1147-0FBDC4B8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6B6C7-405E-4250-A0D5-E903406530A4}" type="datetimeFigureOut">
              <a:rPr lang="en-US" smtClean="0"/>
              <a:t>29-Apr-25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3E365-226C-13DB-968C-CF5C00FA8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A2E83-AE22-57B9-3A71-54A784B3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A33F0-8BD8-4175-9A6A-D052ADE44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4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066BC-BB59-CEEE-42B0-150B8734E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98926-7A9C-D10C-CE14-420B333C2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A3CDE-E0AC-C96B-A733-78068DEF4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6B6C7-405E-4250-A0D5-E903406530A4}" type="datetimeFigureOut">
              <a:rPr lang="en-US" smtClean="0"/>
              <a:t>29-Apr-25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721D9-70D7-9BDD-D1D0-8DC80E3DF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E130-42C1-9435-F9E3-D11C11526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A33F0-8BD8-4175-9A6A-D052ADE44C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2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D5934AA-9F35-4DC2-BDEF-C88AEF973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86" name="Color Cover">
              <a:extLst>
                <a:ext uri="{FF2B5EF4-FFF2-40B4-BE49-F238E27FC236}">
                  <a16:creationId xmlns:a16="http://schemas.microsoft.com/office/drawing/2014/main" id="{8B2B1708-8CE4-4A20-94F5-55118AE2CB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Color Cover">
              <a:extLst>
                <a:ext uri="{FF2B5EF4-FFF2-40B4-BE49-F238E27FC236}">
                  <a16:creationId xmlns:a16="http://schemas.microsoft.com/office/drawing/2014/main" id="{B2BC243A-AB39-4DEF-B708-A656BA5A6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95590E9-5E18-4877-8515-94EBE05E1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90" name="Color">
              <a:extLst>
                <a:ext uri="{FF2B5EF4-FFF2-40B4-BE49-F238E27FC236}">
                  <a16:creationId xmlns:a16="http://schemas.microsoft.com/office/drawing/2014/main" id="{8B4AF456-0671-432E-AD5B-FFAF8D646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Color">
              <a:extLst>
                <a:ext uri="{FF2B5EF4-FFF2-40B4-BE49-F238E27FC236}">
                  <a16:creationId xmlns:a16="http://schemas.microsoft.com/office/drawing/2014/main" id="{3CE7848D-78F7-4020-9603-9ED294166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" name="Picture 15" descr="A computer monitor in a room with bicycles&#10;&#10;AI-generated content may be incorrect.">
            <a:extLst>
              <a:ext uri="{FF2B5EF4-FFF2-40B4-BE49-F238E27FC236}">
                <a16:creationId xmlns:a16="http://schemas.microsoft.com/office/drawing/2014/main" id="{0ACC06B2-35DD-514A-5F68-5EE510136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4" r="8972" b="1"/>
          <a:stretch/>
        </p:blipFill>
        <p:spPr>
          <a:xfrm>
            <a:off x="7082810" y="841663"/>
            <a:ext cx="4166151" cy="5185923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5CA0097F-05D8-41AA-ABF9-33C69879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F662F899-4295-416F-919F-934ED769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55A3F4B-68DC-4F36-BCE6-C507ACC53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483BE2D-C85A-4DE3-A6F4-AE65BB3EF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64C550A-7A80-4B73-B7BF-7426DD1C3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D956BA8-D252-430A-9E58-C7F3D1AC9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5345BF4-9F1D-4388-A778-56FAE2C42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22B00E1-8709-469F-A9F4-F974D3FED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D86E0EF6-3F1B-A766-6415-97A39121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644" y="841664"/>
            <a:ext cx="5203990" cy="27827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Odoo ERP Presentation for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E-Bike Trading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FF8F6F-1640-07FA-CEF4-774AF97D1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2644" y="3764655"/>
            <a:ext cx="5203990" cy="23740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Transforming Operations through Integrated Modules</a:t>
            </a:r>
          </a:p>
        </p:txBody>
      </p:sp>
    </p:spTree>
    <p:extLst>
      <p:ext uri="{BB962C8B-B14F-4D97-AF65-F5344CB8AC3E}">
        <p14:creationId xmlns:p14="http://schemas.microsoft.com/office/powerpoint/2010/main" val="3353821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68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62F4E7-2C4D-6F01-B1D3-395A56C43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336" y="2133601"/>
            <a:ext cx="5508445" cy="3882068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5570FC-8C59-6A2F-4AD7-8ADDECE3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Features and Benefits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3BBD1-17A9-3348-E243-340D44A3E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6383" y="3566810"/>
            <a:ext cx="5692953" cy="26511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Odoo offers integrated modules covering inventory, sales, manufacturing, and accounting, providing a single source of truth. These features lead to enhanced productivity, better data visibility, and streamlined communication within the business.</a:t>
            </a:r>
          </a:p>
        </p:txBody>
      </p:sp>
    </p:spTree>
    <p:extLst>
      <p:ext uri="{BB962C8B-B14F-4D97-AF65-F5344CB8AC3E}">
        <p14:creationId xmlns:p14="http://schemas.microsoft.com/office/powerpoint/2010/main" val="771223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65E9AC-B8F4-7ACB-AA0D-D960D958B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5" y="641850"/>
            <a:ext cx="4149943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Create</a:t>
            </a:r>
            <a:r>
              <a:rPr lang="ar-SA" dirty="0"/>
              <a:t> a </a:t>
            </a:r>
            <a:r>
              <a:rPr lang="ar-SA" dirty="0" err="1"/>
              <a:t>new</a:t>
            </a:r>
            <a:r>
              <a:rPr lang="ar-SA" dirty="0"/>
              <a:t> </a:t>
            </a:r>
            <a:r>
              <a:rPr lang="ar-SA" dirty="0" err="1"/>
              <a:t>product</a:t>
            </a:r>
            <a:r>
              <a:rPr lang="ar-SA" dirty="0"/>
              <a:t>.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4BB7AF-B465-7B37-122D-BC7DD00D82C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" b="16958"/>
          <a:stretch/>
        </p:blipFill>
        <p:spPr>
          <a:xfrm>
            <a:off x="554416" y="2731168"/>
            <a:ext cx="11167447" cy="376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05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4ABE3-EB95-FDE2-8996-43F8ED64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4041302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 dirty="0" err="1"/>
              <a:t>Create</a:t>
            </a:r>
            <a:r>
              <a:rPr lang="ar-SA" dirty="0"/>
              <a:t> a </a:t>
            </a:r>
            <a:r>
              <a:rPr lang="ar-SA" dirty="0" err="1"/>
              <a:t>new</a:t>
            </a:r>
            <a:r>
              <a:rPr lang="ar-SA" dirty="0"/>
              <a:t> </a:t>
            </a:r>
            <a:r>
              <a:rPr lang="ar-SA" dirty="0" err="1"/>
              <a:t>vendor</a:t>
            </a:r>
            <a:r>
              <a:rPr lang="ar-SA" dirty="0"/>
              <a:t>.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A2191A-D51D-D617-1EF2-1985DBAB134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" b="3759"/>
          <a:stretch/>
        </p:blipFill>
        <p:spPr>
          <a:xfrm>
            <a:off x="554416" y="2731167"/>
            <a:ext cx="11167447" cy="376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0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DD256-E2FF-1985-B3B2-2CB0FCB87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4838006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 dirty="0" err="1"/>
              <a:t>Create</a:t>
            </a:r>
            <a:r>
              <a:rPr lang="ar-SA" dirty="0"/>
              <a:t> a </a:t>
            </a:r>
            <a:r>
              <a:rPr lang="ar-SA" dirty="0" err="1"/>
              <a:t>new</a:t>
            </a:r>
            <a:r>
              <a:rPr lang="ar-SA" dirty="0"/>
              <a:t> </a:t>
            </a:r>
            <a:r>
              <a:rPr lang="ar-SA" dirty="0" err="1"/>
              <a:t>customer</a:t>
            </a:r>
            <a:r>
              <a:rPr lang="ar-SA" dirty="0"/>
              <a:t>.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DCDCB1-297C-4DAB-69C1-199C0EF9827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" b="16313"/>
          <a:stretch/>
        </p:blipFill>
        <p:spPr>
          <a:xfrm>
            <a:off x="554416" y="2731167"/>
            <a:ext cx="11167447" cy="376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5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C240C-998C-825D-CB21-388068D75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Chart of accounts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8BE94F8-656D-F7EC-2917-D1BE1FF8F9B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300640" y="641850"/>
            <a:ext cx="6053160" cy="15358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"Using Odoo's chart of accounts with modifications to some account names according to the project's usage."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C5C5EA-4A85-ED97-4D99-BE3FA7A4C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20" b="-2"/>
          <a:stretch/>
        </p:blipFill>
        <p:spPr>
          <a:xfrm>
            <a:off x="554416" y="2731167"/>
            <a:ext cx="11167447" cy="3484983"/>
          </a:xfrm>
          <a:prstGeom prst="rect">
            <a:avLst/>
          </a:prstGeom>
        </p:spPr>
      </p:pic>
      <p:sp>
        <p:nvSpPr>
          <p:cNvPr id="16" name="Action Button: Return 15">
            <a:hlinkClick r:id="rId3" action="ppaction://hlinksldjump" highlightClick="1">
              <a:snd r:embed="rId4" name="chimes.wav"/>
            </a:hlinkClick>
            <a:extLst>
              <a:ext uri="{FF2B5EF4-FFF2-40B4-BE49-F238E27FC236}">
                <a16:creationId xmlns:a16="http://schemas.microsoft.com/office/drawing/2014/main" id="{A705F3C0-715E-2FBC-AA45-9892E94D303A}"/>
              </a:ext>
            </a:extLst>
          </p:cNvPr>
          <p:cNvSpPr/>
          <p:nvPr/>
        </p:nvSpPr>
        <p:spPr>
          <a:xfrm>
            <a:off x="10747713" y="488523"/>
            <a:ext cx="606087" cy="569216"/>
          </a:xfrm>
          <a:prstGeom prst="actionButtonReturn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087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91519-5C63-9541-A5C2-36FA3E812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EBE7CD7-823B-2B57-0D2A-D99D61B2D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6BC141D-8730-47F1-67D2-C8B3A9C67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C0CCAD-0564-5DA3-A923-7A4ECAF8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Chart of accounts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F907E1-68D1-9099-AE62-CA2812183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4050EE-8048-0A50-2D5B-9488F3E2D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FE8BF746-9EEE-D507-06BB-1627727E4B7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300640" y="641850"/>
            <a:ext cx="6053160" cy="15358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"Using Odoo's chart of accounts with modifications to some account names according to the project's usage."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ED454B-316E-4B98-D9D8-E0B43AABB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20" b="-2"/>
          <a:stretch/>
        </p:blipFill>
        <p:spPr>
          <a:xfrm>
            <a:off x="554416" y="2731167"/>
            <a:ext cx="11167447" cy="348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2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EE6CF-8C2C-7103-B25B-DE5BA7768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Inventory module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FEFB8-2B81-7C44-EA4A-7BBBB019F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October Warehouse</a:t>
            </a:r>
            <a:endParaRPr lang="en-US" sz="1800" dirty="0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E1B61A-74FA-0351-B784-B1B03F99157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96"/>
          <a:stretch/>
        </p:blipFill>
        <p:spPr>
          <a:xfrm>
            <a:off x="514692" y="2870329"/>
            <a:ext cx="11207171" cy="362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152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7ED4D51-97E5-85C7-C698-98A8B43D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Make To Order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DB9EE8D-9F2A-A4F4-7C2E-13B872879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-228600">
              <a:buFont typeface="Arial" panose="020B0604020202020204" pitchFamily="34" charset="0"/>
              <a:buChar char="•"/>
            </a:pPr>
            <a:r>
              <a:rPr lang="en-US" sz="2400" dirty="0"/>
              <a:t>Unlinked MTO</a:t>
            </a:r>
            <a:endParaRPr lang="en-US" sz="18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1F2627-10D3-4137-9584-63480A7CA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" b="-236"/>
          <a:stretch/>
        </p:blipFill>
        <p:spPr>
          <a:xfrm>
            <a:off x="554416" y="2731167"/>
            <a:ext cx="11167447" cy="3945858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F868E709-2100-76B3-C91E-2C207C09A330}"/>
              </a:ext>
            </a:extLst>
          </p:cNvPr>
          <p:cNvSpPr/>
          <p:nvPr/>
        </p:nvSpPr>
        <p:spPr>
          <a:xfrm>
            <a:off x="39757" y="4403559"/>
            <a:ext cx="578667" cy="52510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878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FF21E-7143-1B82-FA28-9E6B79B8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Make To Order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20C7F-B617-8E01-15CC-41EB0DA6C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Activating step 1</a:t>
            </a:r>
          </a:p>
        </p:txBody>
      </p:sp>
      <p:pic>
        <p:nvPicPr>
          <p:cNvPr id="6" name="Picture Placeholder 5" descr="A white rectangular object with blue lines&#10;&#10;AI-generated content may be incorrect.">
            <a:extLst>
              <a:ext uri="{FF2B5EF4-FFF2-40B4-BE49-F238E27FC236}">
                <a16:creationId xmlns:a16="http://schemas.microsoft.com/office/drawing/2014/main" id="{6AED14BA-A259-FA8D-D556-2B83642D9D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96"/>
          <a:stretch/>
        </p:blipFill>
        <p:spPr>
          <a:xfrm>
            <a:off x="554416" y="2870329"/>
            <a:ext cx="11167447" cy="362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71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75F6E-BBB1-6AF2-A8CF-46321DD3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Make To Order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74EFD-C6A6-E800-8F73-90E4ED1C6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Activating step 2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EEF5A7-F904-E4A7-0DAA-29CB018393B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" b="96"/>
          <a:stretch/>
        </p:blipFill>
        <p:spPr>
          <a:xfrm>
            <a:off x="554416" y="3009900"/>
            <a:ext cx="11167447" cy="348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679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1CE38C-8A11-C1D1-BD4D-F8EFC339B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Make To Order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3EAE5-BBC3-C9E8-0677-E7B95EE75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Activating step 3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D0B167-EB9C-AFD2-7FF5-EF0240914C3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" r="-1" b="411"/>
          <a:stretch/>
        </p:blipFill>
        <p:spPr>
          <a:xfrm>
            <a:off x="554416" y="2925356"/>
            <a:ext cx="11167447" cy="356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77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3277F-97F0-933F-ADBE-F1C9122B8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Make To Order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7B080-1B53-71A5-1E61-50C1B5E92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Activating step 4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23E2B5-7A98-BB49-9810-712E91B7F01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" r="-222"/>
          <a:stretch/>
        </p:blipFill>
        <p:spPr>
          <a:xfrm>
            <a:off x="554416" y="2734055"/>
            <a:ext cx="11167447" cy="375881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6FBE5CC3-BFAD-1845-9A8A-874E371B6945}"/>
              </a:ext>
            </a:extLst>
          </p:cNvPr>
          <p:cNvSpPr/>
          <p:nvPr/>
        </p:nvSpPr>
        <p:spPr>
          <a:xfrm>
            <a:off x="73183" y="5275159"/>
            <a:ext cx="660148" cy="52510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925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2AB10-4DF6-7D92-7A6A-3750883F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Make To Order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3A45B4-E834-F6ED-8AEC-4716E0DE1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Activating MTO for all products  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2D2C17-15C7-F926-1339-1E05CC9873A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" r="309"/>
          <a:stretch/>
        </p:blipFill>
        <p:spPr>
          <a:xfrm>
            <a:off x="554417" y="2676139"/>
            <a:ext cx="11167446" cy="381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48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9C0D2-E469-F36A-C2B8-41F86E5C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Make To Order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D2292-785C-AE1D-715D-0F5EF7C38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Activating MTO for all products  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163F6D-5EBA-B95A-0C9A-E1E428D74A3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245" r="2" b="-49"/>
          <a:stretch/>
        </p:blipFill>
        <p:spPr>
          <a:xfrm>
            <a:off x="554416" y="2731167"/>
            <a:ext cx="11167447" cy="376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87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34E43-3589-FF8F-5ABE-2DBBD19C4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Uploading products after adjusting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Placeholder 5" descr="A white screen with a white face&#10;&#10;AI-generated content may be incorrect.">
            <a:extLst>
              <a:ext uri="{FF2B5EF4-FFF2-40B4-BE49-F238E27FC236}">
                <a16:creationId xmlns:a16="http://schemas.microsoft.com/office/drawing/2014/main" id="{B2FDF2BE-E7B8-4089-3CCC-097837B5FC0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" r="58" b="2"/>
          <a:stretch/>
        </p:blipFill>
        <p:spPr>
          <a:xfrm>
            <a:off x="566928" y="2626752"/>
            <a:ext cx="11155680" cy="368260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16448A7-5884-028B-6FB2-3B4E877A881D}"/>
              </a:ext>
            </a:extLst>
          </p:cNvPr>
          <p:cNvSpPr/>
          <p:nvPr/>
        </p:nvSpPr>
        <p:spPr>
          <a:xfrm rot="16200000">
            <a:off x="493025" y="3376364"/>
            <a:ext cx="863983" cy="716174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802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468C33-27C3-9782-F470-6FF6D903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Product category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C9AE-DAF1-7DA3-FA22-29A8D8BA4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Activating the product category accounts from the accounting module configuration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D7CE29-A11D-41EE-9831-34F130FD74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33"/>
          <a:stretch/>
        </p:blipFill>
        <p:spPr>
          <a:xfrm>
            <a:off x="554416" y="2731167"/>
            <a:ext cx="11167447" cy="348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89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6999EA-4855-91CD-A58D-CA2E623EC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Product category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82F81-C879-8CDA-2D36-3E6192AEE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Linking the product category with the </a:t>
            </a:r>
            <a:r>
              <a:rPr lang="en-US" sz="1800" dirty="0">
                <a:hlinkClick r:id="rId2" action="ppaction://hlinksldjump"/>
              </a:rPr>
              <a:t>modified accounts</a:t>
            </a:r>
            <a:endParaRPr lang="en-US" sz="1800" dirty="0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6732BF-EAB3-C306-11FB-4469C30AEFE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1" r="2" b="6308"/>
          <a:stretch/>
        </p:blipFill>
        <p:spPr>
          <a:xfrm>
            <a:off x="554416" y="2870329"/>
            <a:ext cx="11167447" cy="3622546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98D1289-D7FC-EA0F-DC8C-3580E30C0BCB}"/>
              </a:ext>
            </a:extLst>
          </p:cNvPr>
          <p:cNvSpPr/>
          <p:nvPr/>
        </p:nvSpPr>
        <p:spPr>
          <a:xfrm>
            <a:off x="9542352" y="640519"/>
            <a:ext cx="1602902" cy="379477"/>
          </a:xfrm>
          <a:prstGeom prst="wedgeRectCallout">
            <a:avLst>
              <a:gd name="adj1" fmla="val -26830"/>
              <a:gd name="adj2" fmla="val 10783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Click me</a:t>
            </a:r>
          </a:p>
        </p:txBody>
      </p:sp>
    </p:spTree>
    <p:extLst>
      <p:ext uri="{BB962C8B-B14F-4D97-AF65-F5344CB8AC3E}">
        <p14:creationId xmlns:p14="http://schemas.microsoft.com/office/powerpoint/2010/main" val="3612595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A037B-9FF4-E925-9B1F-AE9FAF4B6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Linking the product with a vendor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6EA39-75DF-EB34-98E8-ADFFB3E28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This step automates issuing purchase orders 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A87ADD-9175-F5BF-1230-6E8210D8FAB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" b="510"/>
          <a:stretch/>
        </p:blipFill>
        <p:spPr>
          <a:xfrm>
            <a:off x="554416" y="2731167"/>
            <a:ext cx="11167447" cy="388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791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1233B-97B2-9445-298E-4CD36B397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7481819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Automatically create a purchase order when there is no quantity available in stock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 hidden="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Placeholder 5" descr="A screenshot of a chat&#10;&#10;AI-generated content may be incorrect.">
            <a:extLst>
              <a:ext uri="{FF2B5EF4-FFF2-40B4-BE49-F238E27FC236}">
                <a16:creationId xmlns:a16="http://schemas.microsoft.com/office/drawing/2014/main" id="{A05A8CCA-754A-5BC6-9A1B-7749E387E3A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" b="1456"/>
          <a:stretch/>
        </p:blipFill>
        <p:spPr>
          <a:xfrm>
            <a:off x="549058" y="2143738"/>
            <a:ext cx="11097349" cy="410095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151935E-4077-202B-B922-42F5C8716D52}"/>
              </a:ext>
            </a:extLst>
          </p:cNvPr>
          <p:cNvSpPr/>
          <p:nvPr/>
        </p:nvSpPr>
        <p:spPr>
          <a:xfrm rot="16200000">
            <a:off x="3055251" y="4900366"/>
            <a:ext cx="863983" cy="71617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658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DC734-A6EA-9C27-5C84-E57BDE56D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5" y="641850"/>
            <a:ext cx="7228121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Purchase Orders &amp; Sales Orders are linked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5334E4-DE30-58B6-5B01-9168661323F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-289"/>
          <a:stretch/>
        </p:blipFill>
        <p:spPr>
          <a:xfrm>
            <a:off x="554417" y="2731166"/>
            <a:ext cx="11167446" cy="376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58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3DE1B-C988-0D44-A4F4-13285B5FD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Validating delivery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25F33-7FD5-259D-120D-9C60B68B2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300368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Warehouse </a:t>
            </a:r>
            <a:r>
              <a:rPr lang="en-US" sz="2000" b="1" dirty="0"/>
              <a:t>receipt</a:t>
            </a:r>
            <a:r>
              <a:rPr lang="en-US" sz="2000" dirty="0"/>
              <a:t> after purchase order confirmation</a:t>
            </a:r>
            <a:endParaRPr lang="en-US" sz="1800" dirty="0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01AAD3-5FB6-C9A6-0FF1-5CBD00AE238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33"/>
          <a:stretch/>
        </p:blipFill>
        <p:spPr>
          <a:xfrm>
            <a:off x="554416" y="2731167"/>
            <a:ext cx="11167447" cy="376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0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C2A5C-3051-486B-1F6B-B3839807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1850"/>
            <a:ext cx="4127716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Creating a customer bill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F62E0-4EA1-D2D6-3D4C-EF78BE01C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 after receiving the product  </a:t>
            </a:r>
            <a:endParaRPr lang="en-US" sz="1800" dirty="0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2DB705-AB74-C8A7-EC7A-5AEFD63673C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497" r="2" b="1"/>
          <a:stretch/>
        </p:blipFill>
        <p:spPr>
          <a:xfrm>
            <a:off x="554415" y="2767579"/>
            <a:ext cx="11167447" cy="372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53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214A5-35E4-B604-CFC5-659657478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02736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 dirty="0" err="1"/>
              <a:t>Activating</a:t>
            </a:r>
            <a:r>
              <a:rPr lang="ar-SA" dirty="0"/>
              <a:t> </a:t>
            </a:r>
            <a:r>
              <a:rPr lang="en-US" dirty="0"/>
              <a:t>3-way matching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4B926-BFCA-CEC8-340F-1E051BD3B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 Ensures vendor bills are only paid once some (or all) of the products included in the PO have been received.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2AD41-B7C6-3B08-561B-F20D77F7AA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1" r="1" b="-758"/>
          <a:stretch/>
        </p:blipFill>
        <p:spPr>
          <a:xfrm>
            <a:off x="554416" y="2731167"/>
            <a:ext cx="11167447" cy="376170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EE80C659-AF80-BFC7-EDFB-F24460E80BDE}"/>
              </a:ext>
            </a:extLst>
          </p:cNvPr>
          <p:cNvSpPr/>
          <p:nvPr/>
        </p:nvSpPr>
        <p:spPr>
          <a:xfrm>
            <a:off x="5300640" y="5414714"/>
            <a:ext cx="863983" cy="716174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006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5549E48-55B4-43FA-96F3-A3F777E0F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16A14-15B6-260E-E00E-27CC91D4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3-way matching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Picture Placeholder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6AA975-F501-22FF-BC75-908A60C30E8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" r="284"/>
          <a:stretch/>
        </p:blipFill>
        <p:spPr>
          <a:xfrm>
            <a:off x="551554" y="2228471"/>
            <a:ext cx="11097348" cy="4063481"/>
          </a:xfr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55F19A76-0054-FAF5-5D73-6B7AFF362CF2}"/>
              </a:ext>
            </a:extLst>
          </p:cNvPr>
          <p:cNvSpPr/>
          <p:nvPr/>
        </p:nvSpPr>
        <p:spPr>
          <a:xfrm rot="10800000">
            <a:off x="2659041" y="5834127"/>
            <a:ext cx="863983" cy="618298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920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E8FA51-15C2-BB94-04F7-9FE5D30CC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5" y="641850"/>
            <a:ext cx="6693967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Now the 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quantity is available in stock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FF7A66-A4C9-BBEC-836D-FA4A1EF0B0E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416" y="2731167"/>
            <a:ext cx="11167447" cy="348498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B41007B-EFEF-7897-0D17-0BDADC6B7DFC}"/>
              </a:ext>
            </a:extLst>
          </p:cNvPr>
          <p:cNvSpPr/>
          <p:nvPr/>
        </p:nvSpPr>
        <p:spPr>
          <a:xfrm rot="16200000">
            <a:off x="3118626" y="4683083"/>
            <a:ext cx="863983" cy="716174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211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16E97-E32B-9361-7164-5A13CAEA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Deliver the product to the customer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26E80-0B5D-91F0-371C-598F63FB6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Validate the </a:t>
            </a:r>
            <a:r>
              <a:rPr lang="en-US" sz="2000" dirty="0"/>
              <a:t>product dispatch from the warehouse.</a:t>
            </a:r>
            <a:endParaRPr lang="en-US" sz="1800" dirty="0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FFF3CE-4B9A-48A1-C86F-9705A505A9A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481"/>
          <a:stretch/>
        </p:blipFill>
        <p:spPr>
          <a:xfrm>
            <a:off x="554416" y="2731167"/>
            <a:ext cx="11167447" cy="348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41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E9D38-344E-424C-90B3-8DAD2343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5" y="641850"/>
            <a:ext cx="4756525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Create customer Invoice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0DD32E-DADB-4E6B-D481-4B0F6AE19DD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" b="-1305"/>
          <a:stretch/>
        </p:blipFill>
        <p:spPr>
          <a:xfrm>
            <a:off x="554416" y="2731167"/>
            <a:ext cx="11167447" cy="376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01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2EF364-524D-5FD2-89DB-865597572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Journal Entry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D2882-29CA-88BC-F3CF-82C36E94D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 Product </a:t>
            </a:r>
            <a:r>
              <a:rPr lang="en-US" sz="2000" b="1" dirty="0"/>
              <a:t>receipt</a:t>
            </a:r>
            <a:r>
              <a:rPr lang="en-US" sz="2000" dirty="0"/>
              <a:t> into the warehouse</a:t>
            </a:r>
            <a:endParaRPr lang="en-US" sz="1800" dirty="0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2E929A-5EE7-EDCA-62A9-9C8EB01254A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" b="-519"/>
          <a:stretch/>
        </p:blipFill>
        <p:spPr>
          <a:xfrm>
            <a:off x="554416" y="2731167"/>
            <a:ext cx="11167447" cy="3844731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1D405E74-6F18-A4A8-DB9D-240635A58F63}"/>
              </a:ext>
            </a:extLst>
          </p:cNvPr>
          <p:cNvSpPr/>
          <p:nvPr/>
        </p:nvSpPr>
        <p:spPr>
          <a:xfrm rot="16200000">
            <a:off x="1224001" y="3731808"/>
            <a:ext cx="554316" cy="528539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176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59F6C-18CA-E26F-6A03-977CEC48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Journal Entry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1354B-252B-7159-E5CF-5F4DB712C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Issuing </a:t>
            </a:r>
            <a:r>
              <a:rPr lang="en-US" sz="1800" b="1" dirty="0"/>
              <a:t>vendor bill</a:t>
            </a: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6A8EF2-75BB-D374-EA8C-51DD921FEC9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421" r="2" b="-832"/>
          <a:stretch/>
        </p:blipFill>
        <p:spPr>
          <a:xfrm>
            <a:off x="554416" y="2645924"/>
            <a:ext cx="11167447" cy="421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4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23BF4-66A3-8D8E-5E41-34AF7BDE7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Journal Entry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7D417-B6F7-59E8-1FA6-91DE71594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242346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product </a:t>
            </a:r>
            <a:r>
              <a:rPr lang="en-US" sz="2000" b="1" dirty="0"/>
              <a:t>delivery </a:t>
            </a:r>
            <a:r>
              <a:rPr lang="en-US" sz="2000" dirty="0"/>
              <a:t>from the warehouse to the customer</a:t>
            </a:r>
            <a:endParaRPr lang="en-US" sz="1800" dirty="0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6FD5A0-279F-D14A-32C0-08B84391A66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" b="929"/>
          <a:stretch/>
        </p:blipFill>
        <p:spPr>
          <a:xfrm>
            <a:off x="554416" y="2731167"/>
            <a:ext cx="11167447" cy="376170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FAF0D67-6280-7EAF-948B-C49933613065}"/>
              </a:ext>
            </a:extLst>
          </p:cNvPr>
          <p:cNvSpPr/>
          <p:nvPr/>
        </p:nvSpPr>
        <p:spPr>
          <a:xfrm rot="16200000">
            <a:off x="1187788" y="3876662"/>
            <a:ext cx="554316" cy="528539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333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FA63F-9C0A-26D2-AAB0-C4568664A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 dirty="0"/>
              <a:t>COGS is recorded at the time of delivery</a:t>
            </a:r>
            <a:r>
              <a:rPr lang="en-US" sz="2000" dirty="0"/>
              <a:t>, not at purchase.</a:t>
            </a:r>
            <a:endParaRPr lang="en-US" sz="1800" dirty="0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222CA6-C666-2CCE-040C-E393ED2DF55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8" b="108"/>
          <a:stretch/>
        </p:blipFill>
        <p:spPr>
          <a:xfrm>
            <a:off x="554416" y="2731167"/>
            <a:ext cx="11167447" cy="348498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244125F-D993-25C8-E661-EB522311E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38837" y="871174"/>
            <a:ext cx="371064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+mj-lt"/>
              </a:rPr>
              <a:t>Activating </a:t>
            </a:r>
            <a:r>
              <a:rPr lang="en-US" altLang="en-US" b="1" dirty="0">
                <a:latin typeface="+mj-lt"/>
              </a:rPr>
              <a:t>Anglo-Saxon</a:t>
            </a:r>
            <a:r>
              <a:rPr lang="en-US" altLang="en-US" dirty="0">
                <a:latin typeface="+mj-lt"/>
              </a:rPr>
              <a:t> Accounting</a:t>
            </a:r>
          </a:p>
        </p:txBody>
      </p:sp>
    </p:spTree>
    <p:extLst>
      <p:ext uri="{BB962C8B-B14F-4D97-AF65-F5344CB8AC3E}">
        <p14:creationId xmlns:p14="http://schemas.microsoft.com/office/powerpoint/2010/main" val="370117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35F4-9A29-D3DA-A7B6-DAF68CCB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Journal Entry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7EB93-34FE-B5AE-4ADD-5BC2503A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customer invoice</a:t>
            </a:r>
            <a:endParaRPr lang="en-US" sz="1800" dirty="0"/>
          </a:p>
        </p:txBody>
      </p:sp>
      <p:pic>
        <p:nvPicPr>
          <p:cNvPr id="8" name="Picture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81B4D3-01ED-E4E9-F9F1-44D5EDE7655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" b="683"/>
          <a:stretch/>
        </p:blipFill>
        <p:spPr>
          <a:xfrm>
            <a:off x="554416" y="2731167"/>
            <a:ext cx="11167447" cy="381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45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A85EE-83E4-096B-698A-A1C4E76C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Paying vendor bill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2AD213-08FA-9A37-BF41-7FE1C9CBC81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" r="1" b="-158"/>
          <a:stretch/>
        </p:blipFill>
        <p:spPr>
          <a:xfrm>
            <a:off x="554416" y="2819566"/>
            <a:ext cx="11167447" cy="38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87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F1BCE0-06B7-450C-1A06-8EFCC3766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5326894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Invoice status after payment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6EBE67-1558-CE66-9834-BFBA75748A2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" r="1"/>
          <a:stretch/>
        </p:blipFill>
        <p:spPr>
          <a:xfrm>
            <a:off x="554416" y="2731167"/>
            <a:ext cx="11167447" cy="3761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4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C2FA4-32D0-2B1D-021B-EE051831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Journal Entry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8E071-01DF-627B-C997-9B20446A1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0640" y="641850"/>
            <a:ext cx="6053160" cy="15358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Invoice payment</a:t>
            </a:r>
            <a:endParaRPr lang="en-US" sz="1800" dirty="0"/>
          </a:p>
        </p:txBody>
      </p:sp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09518F-0753-D3BF-E794-C3BDD46FAF2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" b="-1"/>
          <a:stretch/>
        </p:blipFill>
        <p:spPr>
          <a:xfrm>
            <a:off x="554416" y="2833916"/>
            <a:ext cx="11167447" cy="365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1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346</Words>
  <Application>Microsoft Office PowerPoint</Application>
  <PresentationFormat>Widescreen</PresentationFormat>
  <Paragraphs>63</Paragraphs>
  <Slides>36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Odoo ERP Presentation for  E-Bike Trading</vt:lpstr>
      <vt:lpstr>Key Features and Benefits</vt:lpstr>
      <vt:lpstr>Create a new product.</vt:lpstr>
      <vt:lpstr>Create a new vendor.</vt:lpstr>
      <vt:lpstr>Create a new customer.</vt:lpstr>
      <vt:lpstr>Chart of accounts</vt:lpstr>
      <vt:lpstr>Chart of accounts</vt:lpstr>
      <vt:lpstr>Inventory module</vt:lpstr>
      <vt:lpstr>Make To Order</vt:lpstr>
      <vt:lpstr>Make To Order</vt:lpstr>
      <vt:lpstr>Make To Order</vt:lpstr>
      <vt:lpstr>Make To Order</vt:lpstr>
      <vt:lpstr>Make To Order</vt:lpstr>
      <vt:lpstr>Make To Order</vt:lpstr>
      <vt:lpstr>Make To Order</vt:lpstr>
      <vt:lpstr>Uploading products after adjusting </vt:lpstr>
      <vt:lpstr>Product category</vt:lpstr>
      <vt:lpstr>Product category</vt:lpstr>
      <vt:lpstr>Linking the product with a vendor</vt:lpstr>
      <vt:lpstr>Automatically create a purchase order when there is no quantity available in stock</vt:lpstr>
      <vt:lpstr>Purchase Orders &amp; Sales Orders are linked</vt:lpstr>
      <vt:lpstr>Validating delivery</vt:lpstr>
      <vt:lpstr>Creating a customer bill</vt:lpstr>
      <vt:lpstr>Activating 3-way matching</vt:lpstr>
      <vt:lpstr>3-way matching</vt:lpstr>
      <vt:lpstr>Now the quantity is available in stock</vt:lpstr>
      <vt:lpstr>Deliver the product to the customer</vt:lpstr>
      <vt:lpstr>Create customer Invoice</vt:lpstr>
      <vt:lpstr>Journal Entry</vt:lpstr>
      <vt:lpstr>Journal Entry</vt:lpstr>
      <vt:lpstr>Journal Entry</vt:lpstr>
      <vt:lpstr>Activating Anglo-Saxon Accounting</vt:lpstr>
      <vt:lpstr>Journal Entry</vt:lpstr>
      <vt:lpstr>Paying vendor bill</vt:lpstr>
      <vt:lpstr>Invoice status after payment</vt:lpstr>
      <vt:lpstr>Journal Entry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Tarek</dc:creator>
  <cp:lastModifiedBy>Hassan Tarek</cp:lastModifiedBy>
  <cp:revision>7</cp:revision>
  <dcterms:created xsi:type="dcterms:W3CDTF">2025-04-27T14:03:35Z</dcterms:created>
  <dcterms:modified xsi:type="dcterms:W3CDTF">2025-04-29T21:53:03Z</dcterms:modified>
</cp:coreProperties>
</file>